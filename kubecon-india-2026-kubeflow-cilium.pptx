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  <Override PartName="/ppt/slides/slide19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57" r:id="rId4"/>
    <p:sldId id="262" r:id="rId5"/>
    <p:sldId id="266" r:id="rId6"/>
    <p:sldId id="275" r:id="rId7"/>
    <p:sldId id="263" r:id="rId8"/>
    <p:sldId id="267" r:id="rId9"/>
    <p:sldId id="268" r:id="rId10"/>
    <p:sldId id="269" r:id="rId11"/>
    <p:sldId id="276" r:id="rId12"/>
    <p:sldId id="270" r:id="rId13"/>
    <p:sldId id="271" r:id="rId14"/>
    <p:sldId id="272" r:id="rId15"/>
    <p:sldId id="273" r:id="rId16"/>
    <p:sldId id="277" r:id="rId17"/>
    <p:sldId id="279" r:id="rId26"/>
    <p:sldId id="274" r:id="rId18"/>
    <p:sldId id="278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1" roundtripDataSignature="AMtx7mjt4YpfaHaeGNLmNMXSHSDobWM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6" Type="http://schemas.openxmlformats.org/officeDocument/2006/relationships/slide" Target="slides/slide19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5" name="Google Shape;6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1" name="Google Shape;7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00737C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2"/>
          <p:cNvGrpSpPr/>
          <p:nvPr/>
        </p:nvGrpSpPr>
        <p:grpSpPr>
          <a:xfrm>
            <a:off x="-3" y="1090004"/>
            <a:ext cx="9144001" cy="4061962"/>
            <a:chOff x="-3" y="1081537"/>
            <a:chExt cx="9144001" cy="4061962"/>
          </a:xfrm>
        </p:grpSpPr>
        <p:pic>
          <p:nvPicPr>
            <p:cNvPr id="11" name="Google Shape;11;p12" descr="A city skyline with buildings and a bridge&#10;&#10;AI-generated content may be incorrect."/>
            <p:cNvPicPr preferRelativeResize="0"/>
            <p:nvPr/>
          </p:nvPicPr>
          <p:blipFill rotWithShape="1">
            <a:blip r:embed="rId2">
              <a:alphaModFix/>
            </a:blip>
            <a:srcRect l="8950" t="19108"/>
            <a:stretch/>
          </p:blipFill>
          <p:spPr>
            <a:xfrm>
              <a:off x="-3" y="1081537"/>
              <a:ext cx="9144001" cy="40619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" name="Google Shape;12;p12"/>
            <p:cNvSpPr/>
            <p:nvPr/>
          </p:nvSpPr>
          <p:spPr>
            <a:xfrm>
              <a:off x="0" y="1442301"/>
              <a:ext cx="981012" cy="11294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12"/>
          <p:cNvSpPr txBox="1">
            <a:spLocks noGrp="1"/>
          </p:cNvSpPr>
          <p:nvPr>
            <p:ph type="ctrTitle"/>
          </p:nvPr>
        </p:nvSpPr>
        <p:spPr>
          <a:xfrm>
            <a:off x="311215" y="1251446"/>
            <a:ext cx="8010201" cy="1455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12"/>
          <p:cNvSpPr txBox="1">
            <a:spLocks noGrp="1"/>
          </p:cNvSpPr>
          <p:nvPr>
            <p:ph type="subTitle" idx="1"/>
          </p:nvPr>
        </p:nvSpPr>
        <p:spPr>
          <a:xfrm>
            <a:off x="311214" y="2706624"/>
            <a:ext cx="8010201" cy="609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" name="Google Shape;15;p12"/>
          <p:cNvSpPr txBox="1"/>
          <p:nvPr/>
        </p:nvSpPr>
        <p:spPr>
          <a:xfrm>
            <a:off x="5715812" y="178532"/>
            <a:ext cx="31112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#KubeCon #CloudNativeCon</a:t>
            </a: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" name="Google Shape;16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215" y="178532"/>
            <a:ext cx="2007964" cy="85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rgbClr val="00737C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13"/>
          <p:cNvGrpSpPr/>
          <p:nvPr/>
        </p:nvGrpSpPr>
        <p:grpSpPr>
          <a:xfrm>
            <a:off x="-3" y="1090004"/>
            <a:ext cx="9144001" cy="4061962"/>
            <a:chOff x="-3" y="1081537"/>
            <a:chExt cx="9144001" cy="4061962"/>
          </a:xfrm>
        </p:grpSpPr>
        <p:pic>
          <p:nvPicPr>
            <p:cNvPr id="19" name="Google Shape;19;p13" descr="A city skyline with buildings and a bridge&#10;&#10;AI-generated content may be incorrect."/>
            <p:cNvPicPr preferRelativeResize="0"/>
            <p:nvPr/>
          </p:nvPicPr>
          <p:blipFill rotWithShape="1">
            <a:blip r:embed="rId2">
              <a:alphaModFix/>
            </a:blip>
            <a:srcRect l="8950" t="19108"/>
            <a:stretch/>
          </p:blipFill>
          <p:spPr>
            <a:xfrm>
              <a:off x="-3" y="1081537"/>
              <a:ext cx="9144001" cy="40619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20;p13"/>
            <p:cNvSpPr/>
            <p:nvPr/>
          </p:nvSpPr>
          <p:spPr>
            <a:xfrm>
              <a:off x="0" y="1442301"/>
              <a:ext cx="981012" cy="1129449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13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2" name="Google Shape;22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215" y="178532"/>
            <a:ext cx="2007964" cy="85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">
    <p:bg>
      <p:bgPr>
        <a:solidFill>
          <a:srgbClr val="00737C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14"/>
          <p:cNvPicPr preferRelativeResize="0"/>
          <p:nvPr/>
        </p:nvPicPr>
        <p:blipFill rotWithShape="1">
          <a:blip r:embed="rId2">
            <a:alphaModFix/>
          </a:blip>
          <a:srcRect b="49683"/>
          <a:stretch/>
        </p:blipFill>
        <p:spPr>
          <a:xfrm>
            <a:off x="0" y="4481929"/>
            <a:ext cx="9144000" cy="6615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14"/>
          <p:cNvPicPr preferRelativeResize="0"/>
          <p:nvPr/>
        </p:nvPicPr>
        <p:blipFill rotWithShape="1">
          <a:blip r:embed="rId2">
            <a:alphaModFix/>
          </a:blip>
          <a:srcRect r="28652" b="49683"/>
          <a:stretch/>
        </p:blipFill>
        <p:spPr>
          <a:xfrm>
            <a:off x="2620250" y="4481925"/>
            <a:ext cx="6523751" cy="661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14" descr="A green and blue animal with flowers on it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r="6191"/>
          <a:stretch/>
        </p:blipFill>
        <p:spPr>
          <a:xfrm>
            <a:off x="6824823" y="87960"/>
            <a:ext cx="2319178" cy="4718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4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28" name="Google Shape;2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215" y="178532"/>
            <a:ext cx="2007964" cy="85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1_Section header 2">
    <p:bg>
      <p:bgPr>
        <a:solidFill>
          <a:srgbClr val="00737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5"/>
          <p:cNvPicPr preferRelativeResize="0"/>
          <p:nvPr/>
        </p:nvPicPr>
        <p:blipFill rotWithShape="1">
          <a:blip r:embed="rId2">
            <a:alphaModFix/>
          </a:blip>
          <a:srcRect r="46113" b="20215"/>
          <a:stretch/>
        </p:blipFill>
        <p:spPr>
          <a:xfrm>
            <a:off x="5589269" y="874514"/>
            <a:ext cx="3554731" cy="4268986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15"/>
          <p:cNvSpPr txBox="1">
            <a:spLocks noGrp="1"/>
          </p:cNvSpPr>
          <p:nvPr>
            <p:ph type="ctrTitle"/>
          </p:nvPr>
        </p:nvSpPr>
        <p:spPr>
          <a:xfrm>
            <a:off x="398302" y="1373367"/>
            <a:ext cx="8010201" cy="2024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15"/>
          <p:cNvSpPr txBox="1">
            <a:spLocks noGrp="1"/>
          </p:cNvSpPr>
          <p:nvPr>
            <p:ph type="subTitle" idx="1"/>
          </p:nvPr>
        </p:nvSpPr>
        <p:spPr>
          <a:xfrm>
            <a:off x="398301" y="3397805"/>
            <a:ext cx="8010201" cy="6701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pic>
        <p:nvPicPr>
          <p:cNvPr id="33" name="Google Shape;3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040823" y="453033"/>
            <a:ext cx="25908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15"/>
          <p:cNvPicPr preferRelativeResize="0"/>
          <p:nvPr/>
        </p:nvPicPr>
        <p:blipFill rotWithShape="1">
          <a:blip r:embed="rId3">
            <a:alphaModFix/>
          </a:blip>
          <a:srcRect l="41002" b="9974"/>
          <a:stretch/>
        </p:blipFill>
        <p:spPr>
          <a:xfrm>
            <a:off x="-1" y="4080209"/>
            <a:ext cx="1528535" cy="106329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11215" y="178532"/>
            <a:ext cx="2007964" cy="85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16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0" name="Google Shape;40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700" y="4590949"/>
            <a:ext cx="1079629" cy="45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1_Title and bod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/>
          <p:nvPr/>
        </p:nvSpPr>
        <p:spPr>
          <a:xfrm>
            <a:off x="7100" y="5625"/>
            <a:ext cx="9136900" cy="1047900"/>
          </a:xfrm>
          <a:prstGeom prst="rect">
            <a:avLst/>
          </a:prstGeom>
          <a:solidFill>
            <a:srgbClr val="0073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17"/>
          <p:cNvSpPr txBox="1">
            <a:spLocks noGrp="1"/>
          </p:cNvSpPr>
          <p:nvPr>
            <p:ph type="title"/>
          </p:nvPr>
        </p:nvSpPr>
        <p:spPr>
          <a:xfrm>
            <a:off x="311700" y="0"/>
            <a:ext cx="6949739" cy="104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200"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17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" name="Google Shape;4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86494" y="263745"/>
            <a:ext cx="1245804" cy="528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lt1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0" name="Google Shape;50;p18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2" name="Google Shape;52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700" y="4590949"/>
            <a:ext cx="1079629" cy="45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144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9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700" y="4590949"/>
            <a:ext cx="1079629" cy="45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9" name="Google Shape;59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700" y="4590949"/>
            <a:ext cx="1079629" cy="4580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Logo">
    <p:bg>
      <p:bgPr>
        <a:solidFill>
          <a:srgbClr val="00737C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21" descr="A cartoon of a city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t="51083" b="5615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215" y="178532"/>
            <a:ext cx="2007964" cy="8518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1"/>
          <p:cNvSpPr txBox="1">
            <a:spLocks noGrp="1"/>
          </p:cNvSpPr>
          <p:nvPr>
            <p:ph type="sldNum" idx="12"/>
          </p:nvPr>
        </p:nvSpPr>
        <p:spPr>
          <a:xfrm>
            <a:off x="8283600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?>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8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Relationship Id="rId3" Type="http://schemas.openxmlformats.org/officeDocument/2006/relationships/image" Target="../media/image16.jp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"/>
          <p:cNvSpPr txBox="1">
            <a:spLocks noGrp="1"/>
          </p:cNvSpPr>
          <p:nvPr>
            <p:ph type="ctrTitle"/>
          </p:nvPr>
        </p:nvSpPr>
        <p:spPr>
          <a:xfrm>
            <a:off x="311216" y="1251445"/>
            <a:ext cx="8665808" cy="14599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3600" b="1" dirty="0"/>
              <a:t>When Kubeflow Fights Cilium: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3600" b="1" dirty="0"/>
              <a:t>Debugging 60% Idle GPUs in Kubernetes</a:t>
            </a:r>
            <a:endParaRPr dirty="0"/>
          </a:p>
        </p:txBody>
      </p:sp>
      <p:sp>
        <p:nvSpPr>
          <p:cNvPr id="68" name="Google Shape;68;p1"/>
          <p:cNvSpPr txBox="1">
            <a:spLocks noGrp="1"/>
          </p:cNvSpPr>
          <p:nvPr>
            <p:ph type="subTitle" idx="1"/>
          </p:nvPr>
        </p:nvSpPr>
        <p:spPr>
          <a:xfrm>
            <a:off x="207848" y="2889504"/>
            <a:ext cx="8010201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sz="2000" b="0" dirty="0"/>
              <a:t>Ramkumar Nagaraj | Sr. Computer Scientist, Adobe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lang="en-US" sz="2000" b="0" dirty="0"/>
              <a:t>Bingi Narasimha Karthik | Computer Scientist II, Adobe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Agenda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1. The Problem </a:t>
            </a:r>
            <a:r>
              <a:rPr lang="en-US" sz="2000" b="0" dirty="0"/>
              <a:t>— 60% idle GPUs, no obvious cause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2. Root Cause </a:t>
            </a:r>
            <a:r>
              <a:rPr lang="en-US" sz="2000" b="0" dirty="0"/>
              <a:t>— Cilium network policy meets topology blindness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3. Live Demo </a:t>
            </a:r>
            <a:r>
              <a:rPr lang="en-US" sz="2000" b="0" dirty="0"/>
              <a:t>— Reproduce the conflict, watch the alert fire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4. The Fix </a:t>
            </a:r>
            <a:r>
              <a:rPr lang="en-US" sz="2000" b="0" dirty="0"/>
              <a:t>— 3 YAML additions, no CNI or Kubeflow changes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5. Takeaways </a:t>
            </a:r>
            <a:r>
              <a:rPr lang="en-US" sz="2000" b="0" dirty="0"/>
              <a:t>— General patterns for CNI-aware ML scheduling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3600" b="1" dirty="0">
                <a:solidFill>
                  <a:schemeClr val="lt1"/>
                </a:solidFill>
              </a:rPr>
              <a:t>Part 1: The Problem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400" b="0" dirty="0">
                <a:solidFill>
                  <a:schemeClr val="lt1"/>
                </a:solidFill>
              </a:rPr>
              <a:t>60% idle GPUs. Pods scheduled. Training stalled.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The Setup: Two Zones, One Problem</a:t>
            </a:r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zone-a  (GPU Zone)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2 worker nodes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GPU taint: gpu=present:NoSchedule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Label: topology.kubernetes.io/zone=zone-a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/>
              <a:t>Cilium policy: intra-zone-a ALLOW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/>
              <a:t>Cross-zone GPU traffic: DENY</a:t>
            </a:r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zone-b  (CPU Zone)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2 worker nodes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No GPU taint — any pod can land here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Label: topology.kubernetes.io/zone=zone-b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/>
              <a:t>Cilium policy: intra-zone-b ALLOW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No GPU workers — coordinator ends up here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uild="p"/>
      <p:bldP spid="10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Default Kubeflow Scheduling: No Topology Awareness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What Kubeflow does by default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Coordinator pod: no affinity, no nodeSelector — lands anywhere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GPU workers: nodeSelector gpu=true — always land in zone-a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1" dirty="0"/>
              <a:t>Result: coordinator in zone-b, workers in zone-a — different network zones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Observed symptoms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gpu_demo_utilization_pct: ~40%   (resources allocated, nothing computing)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Workers retry connection to coordinator — all fail with timeout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No kernel errors, no OOM — pods Running, training never starts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endingWorkersScreenshot">
            <a:extLst>
              <a:ext uri="{FF2B5EF4-FFF2-40B4-BE49-F238E27FC236}">
                <a16:creationId xmlns:a16="http://schemas.microsoft.com/office/drawing/2014/main" id="{3DC7D984-7B81-B59E-1A4F-D21CDE719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97" y="469127"/>
            <a:ext cx="8598945" cy="3845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32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Live Demo: Reproducing the Conflict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rPr lang="en-US" sz="1800" b="0" i="1" dirty="0"/>
              <a:t>bash scripts/demo-before.sh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-US" sz="1800" b="0" dirty="0"/>
              <a:t>Watch: coordinator lands zone-b — workers retry — GPU at 40%</a:t>
            </a: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</a:pPr>
            <a:r>
              <a:rPr lang="en-US" sz="1800" b="0" dirty="0"/>
              <a:t>Grafana: http://localhost:3000  |  Prometheus: http://localhost:9090</a:t>
            </a: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252E60D-D046-A063-3244-A7747D6D44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6650" y="1424490"/>
            <a:ext cx="6931550" cy="3353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3600" b="1" dirty="0">
                <a:solidFill>
                  <a:schemeClr val="lt1"/>
                </a:solidFill>
              </a:rPr>
              <a:t>Part 2: Root Cause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400" b="0" dirty="0">
                <a:solidFill>
                  <a:schemeClr val="lt1"/>
                </a:solidFill>
              </a:rPr>
              <a:t>Cilium network policy meets topology blindness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Cilium’s Topology-Aware Network Policy</a:t>
            </a:r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How it works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CiliumNetworkPolicy uses pod label selectors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allow-intra-zone-a: pods in zone-a can talk to each other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/>
              <a:t>deny-cross-zone-gpu-traffic: gpu-worker pods CANNOT egress to zone-b pods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The policy is correct security design —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800" b="1" dirty="0"/>
              <a:t>the scheduler didn’t know about it</a:t>
            </a:r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The policy snippet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600" b="0" dirty="0"/>
              <a:t>kind: CiliumNetworkPolicy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600" b="0" dirty="0"/>
              <a:t>name: deny-cross-zone-gpu-traffic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600" b="0" dirty="0"/>
              <a:t>spec: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600" b="0" dirty="0"/>
              <a:t>  endpointSelector: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600" b="0" dirty="0"/>
              <a:t>    matchLabels: {role: gpu-worker}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600" b="1" dirty="0"/>
              <a:t>  egressDeny: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600" b="1" dirty="0"/>
              <a:t>  - toEndpoints: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400"/>
              <a:buNone/>
            </a:pPr>
            <a:r>
              <a:rPr lang="en-US" sz="1600" b="1" dirty="0"/>
              <a:t>      matchLabels: {zone: zone-b}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uild="p"/>
      <p:bldP spid="10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The Smoking Gun: GPUWorkersCantReachCoordinator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Prometheus alert fires within 30 seconds of BEFORE state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Alert condition: coordinator_zone &gt; 0 AND workers_running &gt; 0 for 30s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gpu_demo_coordinator_zone returns 1 — “coordinator is in the wrong zone”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gpu_demo_utilization_pct returns 40 — allocated but idle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gpu_demo_zones_occupied returns 2 — workers and coordinator split across zones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Debugging path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1. Alert fires → check pod placement → coordinator in zone-b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2. Check Cilium policies → deny-cross-zone-gpu-traffic matches exactly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</a:pPr>
            <a:r>
              <a:rPr lang="en-US" sz="1800" b="0" dirty="0"/>
              <a:t>3. Root cause: no topology awareness in workload spec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flictScoreScreenshot">
            <a:extLst>
              <a:ext uri="{FF2B5EF4-FFF2-40B4-BE49-F238E27FC236}">
                <a16:creationId xmlns:a16="http://schemas.microsoft.com/office/drawing/2014/main" id="{F489A966-03CD-2D3A-6892-33E97F112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90184"/>
            <a:ext cx="8597348" cy="2193316"/>
          </a:xfrm>
          <a:prstGeom prst="rect">
            <a:avLst/>
          </a:prstGeom>
        </p:spPr>
      </p:pic>
      <p:pic>
        <p:nvPicPr>
          <p:cNvPr id="5" name="CoordinatorZoneChart">
            <a:extLst>
              <a:ext uri="{FF2B5EF4-FFF2-40B4-BE49-F238E27FC236}">
                <a16:creationId xmlns:a16="http://schemas.microsoft.com/office/drawing/2014/main" id="{66509244-BAB5-5F13-3511-9F8F1C73E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457850"/>
            <a:ext cx="8686800" cy="21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64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"/>
          <p:cNvSpPr txBox="1">
            <a:spLocks noGrp="1"/>
          </p:cNvSpPr>
          <p:nvPr>
            <p:ph type="title"/>
          </p:nvPr>
        </p:nvSpPr>
        <p:spPr>
          <a:xfrm>
            <a:off x="311700" y="1940538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3600" b="1" dirty="0">
                <a:solidFill>
                  <a:schemeClr val="lt1"/>
                </a:solidFill>
              </a:rPr>
              <a:t>Part 3: The Fix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</a:pPr>
            <a:r>
              <a:rPr lang="en-US" sz="2400" b="0" dirty="0">
                <a:solidFill>
                  <a:schemeClr val="lt1"/>
                </a:solidFill>
              </a:rPr>
              <a:t>3 YAML additions. No Kubeflow changes. No Cilium changes.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The Fix: 3 YAML Additions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1. nodeAffinity on coordinator — pin to zone-a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requiredDuringScheduling: zone IN [zone-a]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2. topologySpreadConstraints on coordinator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maxSkew: 1 | topologyKey: zone | DoNotSchedule | selector: ml-training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Forces all ml-training pods into the same zone as the coordinator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2000" b="1" dirty="0"/>
              <a:t>3. topologySpreadConstraints on GPU workers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Zone-level spread (DoNotSchedule) + hostname spread (ScheduleAnyway)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r>
              <a:rPr lang="en-US" sz="1800" b="1" dirty="0"/>
              <a:t>Result: coordinator → zone-a | workers → zone-a | Cilium allows all traffic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Live Demo: Applying the Fix</a:t>
            </a:r>
          </a:p>
          <a:p>
            <a:pPr marL="0" lvl="0" indent="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800"/>
              <a:buNone/>
            </a:pPr>
            <a:r>
              <a:rPr lang="en-US" sz="1800" b="0" i="1" dirty="0"/>
              <a:t>bash scripts/demo-after.sh</a:t>
            </a: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800"/>
              <a:buNone/>
            </a:pPr>
            <a:r>
              <a:rPr lang="en-US" sz="1800" b="0" dirty="0"/>
              <a:t>Watch: all pods move to zone-a — workers connect — training runs — GPU at 85%</a:t>
            </a:r>
          </a:p>
          <a:p>
            <a:pPr marL="0" lvl="0" indent="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2800"/>
              <a:buNone/>
            </a:pPr>
            <a:r>
              <a:rPr lang="en-US" sz="1800" b="0" dirty="0"/>
              <a:t>Grafana: http://localhost:3000  |  Conflict score drops to 0</a:t>
            </a:r>
            <a:endParaRPr/>
          </a:p>
        </p:txBody>
      </p:sp>
      <p:pic>
        <p:nvPicPr>
          <p:cNvPr id="211" name="GrafanaDashboardScreensh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2050000"/>
            <a:ext cx="8686800" cy="290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Before vs After: The Numbers</a:t>
            </a:r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BEFORE (broken)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GPU utilization: ~40%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Coordinator zone: zone-b (wrong)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Cross-zone Cilium blocks: ACTIVE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Training progress: STALLED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Prometheus alert: FIRING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Conflict score: 1.0</a:t>
            </a:r>
            <a:endParaRPr/>
          </a:p>
        </p:txBody>
      </p:sp>
      <p:sp>
        <p:nvSpPr>
          <p:cNvPr id="103" name="Google Shape;103;p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 b="1" dirty="0"/>
              <a:t>AFTER (fixed)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GPU utilization: ~85%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Coordinator zone: zone-a (correct)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Cross-zone Cilium blocks: NONE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Training progress: RUNNING (30/30 steps)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Prometheus alert: RESOLVED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</a:pPr>
            <a:r>
              <a:rPr lang="en-US" sz="1800" b="0" dirty="0"/>
              <a:t>Conflict score: 0.0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build="p"/>
      <p:bldP spid="10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PUUtilizationArcChart">
            <a:extLst>
              <a:ext uri="{FF2B5EF4-FFF2-40B4-BE49-F238E27FC236}">
                <a16:creationId xmlns:a16="http://schemas.microsoft.com/office/drawing/2014/main" id="{EF8F822E-7CA9-57C7-8CD6-4CB6C373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30" y="92702"/>
            <a:ext cx="8686800" cy="4065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513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Key Takeaways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1. Your CNI has opinions about topology — your scheduler doesn’t know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Cilium topology-aware policies are silent to the Kubernetes scheduler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2. Topology spread constraints = Kubernetes-native fix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No Kubeflow patch, no Cilium change — 3 YAML stanzas in your workload spec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3. Instrument before you need it: GPU utilization + pod zone metrics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Prometheus + Grafana dashboards exposed this in seconds, not days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4. Pattern applies beyond Kubeflow/Cilium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Same root cause, 3 faces in prod: hard Cilium block, cross-zone NCCL latency, cross-AZ egress cost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B2D6E-876F-C265-35AB-5F85CF521009}"/>
              </a:ext>
            </a:extLst>
          </p:cNvPr>
          <p:cNvSpPr txBox="1"/>
          <p:nvPr/>
        </p:nvSpPr>
        <p:spPr>
          <a:xfrm>
            <a:off x="685800" y="360000"/>
            <a:ext cx="77724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ct val="115000"/>
              </a:lnSpc>
              <a:spcBef>
                <a:spcPts val="600"/>
              </a:spcBef>
              <a:buSzPts val="1800"/>
            </a:pPr>
            <a:r>
              <a:rPr lang="en-US" sz="1400" b="1" dirty="0"/>
              <a:t>Questions?  |  </a:t>
            </a:r>
            <a:r>
              <a:rPr lang="en-US" b="1" dirty="0"/>
              <a:t>https://</a:t>
            </a:r>
            <a:r>
              <a:rPr lang="en-US" b="1" dirty="0" err="1"/>
              <a:t>github.com</a:t>
            </a:r>
            <a:r>
              <a:rPr lang="en-US" b="1" dirty="0"/>
              <a:t>/ram2valar/</a:t>
            </a:r>
            <a:r>
              <a:rPr lang="en-US" b="1" dirty="0" err="1"/>
              <a:t>kubeflow</a:t>
            </a:r>
            <a:r>
              <a:rPr lang="en-US" b="1" dirty="0"/>
              <a:t>-cilium-lab</a:t>
            </a:r>
            <a:endParaRPr lang="en-US" dirty="0"/>
          </a:p>
        </p:txBody>
      </p:sp>
      <p:pic>
        <p:nvPicPr>
          <p:cNvPr id="20" name="Ramkumar Nagaraj Q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900" y="1520000"/>
            <a:ext cx="2657000" cy="2926080"/>
          </a:xfrm>
          <a:prstGeom prst="rect">
            <a:avLst/>
          </a:prstGeom>
        </p:spPr>
      </p:pic>
      <p:pic>
        <p:nvPicPr>
          <p:cNvPr id="21" name="Bingi Narasimha Karthik Q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3100" y="1520000"/>
            <a:ext cx="3032000" cy="292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1865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800" b="1" dirty="0"/>
              <a:t>Beyond the Hard Block: The Production Spectrum</a:t>
            </a:r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3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1. Hard CiliumNetworkPolicy block — what this demo shows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Workers can’t reach coordinator; training never starts. Detected in seconds.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2. Cross-zone NCCL latency — no hard block, just distance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Training runs 30–60% slower; AllReduce pays cross-zone RTT. No error — detected in hours.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3. Cross-AZ egress cost — invisible to Kubernetes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Surfaces only in cloud billing; significant at scale. Detected in days.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</a:pPr>
            <a:r>
              <a:rPr lang="en-US" sz="1900" b="1" dirty="0"/>
              <a:t>One fix resolves all three</a:t>
            </a:r>
          </a:p>
          <a:p>
            <a:pPr marL="457200" lvl="0" indent="-228600" algn="l" rtl="0">
              <a:lnSpc>
                <a:spcPct val="115000"/>
              </a:lnSpc>
              <a:spcBef>
                <a:spcPts val="100"/>
              </a:spcBef>
              <a:spcAft>
                <a:spcPts val="0"/>
              </a:spcAft>
              <a:buSzPts val="1800"/>
              <a:buNone/>
            </a:pPr>
            <a:r>
              <a:rPr lang="en-US" sz="1600" b="0" dirty="0"/>
              <a:t>Topology spread constraints pin the coordinator to the GPU zone — same YAML, every scenario.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build="p"/>
    </p:bldLst>
  </p:timing>
</p:sld>
</file>

<file path=ppt/theme/theme1.xml><?xml version="1.0" encoding="utf-8"?>
<a:theme xmlns:a="http://schemas.openxmlformats.org/drawingml/2006/main" name="OSSNA24">
  <a:themeElements>
    <a:clrScheme name="Custom 1">
      <a:dk1>
        <a:srgbClr val="000000"/>
      </a:dk1>
      <a:lt1>
        <a:srgbClr val="FFFFFF"/>
      </a:lt1>
      <a:dk2>
        <a:srgbClr val="000000"/>
      </a:dk2>
      <a:lt2>
        <a:srgbClr val="EEEEEE"/>
      </a:lt2>
      <a:accent1>
        <a:srgbClr val="00737C"/>
      </a:accent1>
      <a:accent2>
        <a:srgbClr val="262267"/>
      </a:accent2>
      <a:accent3>
        <a:srgbClr val="305BA9"/>
      </a:accent3>
      <a:accent4>
        <a:srgbClr val="B0DDFF"/>
      </a:accent4>
      <a:accent5>
        <a:srgbClr val="FFC217"/>
      </a:accent5>
      <a:accent6>
        <a:srgbClr val="FFA35F"/>
      </a:accent6>
      <a:hlink>
        <a:srgbClr val="FF7F15"/>
      </a:hlink>
      <a:folHlink>
        <a:srgbClr val="FFA35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828</Words>
  <Application>Microsoft Macintosh PowerPoint</Application>
  <PresentationFormat>On-screen Show (16:9)</PresentationFormat>
  <Paragraphs>104</Paragraphs>
  <Slides>18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OSSNA24</vt:lpstr>
      <vt:lpstr>When Kubeflow Fights Cilium: Debugging 60% Idle GPUs in Kubernetes</vt:lpstr>
      <vt:lpstr>Agenda</vt:lpstr>
      <vt:lpstr>Part 1: The Problem 60% idle GPUs. Pods scheduled. Training stalled.</vt:lpstr>
      <vt:lpstr>The Setup: Two Zones, One Problem</vt:lpstr>
      <vt:lpstr>Default Kubeflow Scheduling: No Topology Awareness</vt:lpstr>
      <vt:lpstr>PowerPoint Presentation</vt:lpstr>
      <vt:lpstr>Live Demo: Reproducing the Conflict bash scripts/demo-before.sh Watch: coordinator lands zone-b — workers retry — GPU at 40% Grafana: http://localhost:3000  |  Prometheus: http://localhost:9090</vt:lpstr>
      <vt:lpstr>Part 2: Root Cause Cilium network policy meets topology blindness</vt:lpstr>
      <vt:lpstr>Cilium’s Topology-Aware Network Policy</vt:lpstr>
      <vt:lpstr>The Smoking Gun: GPUWorkersCantReachCoordinator</vt:lpstr>
      <vt:lpstr>PowerPoint Presentation</vt:lpstr>
      <vt:lpstr>Part 3: The Fix 3 YAML additions. No Kubeflow changes. No Cilium changes.</vt:lpstr>
      <vt:lpstr>The Fix: 3 YAML Additions</vt:lpstr>
      <vt:lpstr>Live Demo: Applying the Fix bash scripts/demo-after.sh Watch: all pods move to zone-a — workers connect — training runs — GPU at 85% Grafana: http://localhost:3000  |  Conflict score drops to 0</vt:lpstr>
      <vt:lpstr>Before vs After: The Numbers</vt:lpstr>
      <vt:lpstr>PowerPoint Presentation</vt:lpstr>
      <vt:lpstr>Key Takeaways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Ramkumar Nagaraj</cp:lastModifiedBy>
  <cp:revision>3</cp:revision>
  <dcterms:modified xsi:type="dcterms:W3CDTF">2026-05-16T15:42:28Z</dcterms:modified>
</cp:coreProperties>
</file>